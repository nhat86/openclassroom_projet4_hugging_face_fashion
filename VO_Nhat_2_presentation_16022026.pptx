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13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21" name="Google Shape;21;p3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" name="Google Shape;23;p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8" name="Google Shape;28;p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5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5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p4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5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5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5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5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308750" y="487100"/>
            <a:ext cx="50175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fr"/>
              <a:t>Fashion Trend Intelligence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4878025" y="3397250"/>
            <a:ext cx="38100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808">
                <a:latin typeface="Arial"/>
                <a:ea typeface="Arial"/>
                <a:cs typeface="Arial"/>
                <a:sym typeface="Arial"/>
              </a:rPr>
              <a:t>Formation : </a:t>
            </a:r>
            <a:r>
              <a:rPr b="1" lang="fr" sz="4808">
                <a:latin typeface="Arial"/>
                <a:ea typeface="Arial"/>
                <a:cs typeface="Arial"/>
                <a:sym typeface="Arial"/>
              </a:rPr>
              <a:t>Développeur IA – OpenClassrooms</a:t>
            </a:r>
            <a:endParaRPr b="1" sz="4808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808">
                <a:latin typeface="Arial"/>
                <a:ea typeface="Arial"/>
                <a:cs typeface="Arial"/>
                <a:sym typeface="Arial"/>
              </a:rPr>
              <a:t>Présenté par : </a:t>
            </a:r>
            <a:r>
              <a:rPr b="1" lang="fr" sz="4808">
                <a:latin typeface="Arial"/>
                <a:ea typeface="Arial"/>
                <a:cs typeface="Arial"/>
                <a:sym typeface="Arial"/>
              </a:rPr>
              <a:t>Nhat VO</a:t>
            </a:r>
            <a:endParaRPr b="1" sz="4808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808">
                <a:latin typeface="Arial"/>
                <a:ea typeface="Arial"/>
                <a:cs typeface="Arial"/>
                <a:sym typeface="Arial"/>
              </a:rPr>
              <a:t>Date : </a:t>
            </a:r>
            <a:r>
              <a:rPr b="1" lang="fr" sz="4808">
                <a:latin typeface="Arial"/>
                <a:ea typeface="Arial"/>
                <a:cs typeface="Arial"/>
                <a:sym typeface="Arial"/>
              </a:rPr>
              <a:t>10/04/2026</a:t>
            </a:r>
            <a:endParaRPr sz="4808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36" name="Google Shape;136;p13"/>
          <p:cNvSpPr txBox="1"/>
          <p:nvPr/>
        </p:nvSpPr>
        <p:spPr>
          <a:xfrm>
            <a:off x="3017125" y="2101700"/>
            <a:ext cx="61269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00FFFF"/>
                </a:solidFill>
                <a:latin typeface="Lato"/>
                <a:ea typeface="Lato"/>
                <a:cs typeface="Lato"/>
                <a:sym typeface="Lato"/>
              </a:rPr>
              <a:t>Segmentation sémantique de vêtements par IA </a:t>
            </a:r>
            <a:endParaRPr sz="1800">
              <a:solidFill>
                <a:srgbClr val="00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00FFFF"/>
                </a:solidFill>
                <a:latin typeface="Lato"/>
                <a:ea typeface="Lato"/>
                <a:cs typeface="Lato"/>
                <a:sym typeface="Lato"/>
              </a:rPr>
              <a:t>Analyse de tendances sur images d'influenceurs mode 2024</a:t>
            </a:r>
            <a:endParaRPr sz="1800">
              <a:solidFill>
                <a:srgbClr val="00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fr"/>
              <a:t>Présentation du projet</a:t>
            </a:r>
            <a:endParaRPr/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4031375" y="1567550"/>
            <a:ext cx="4762500" cy="3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Objectif</a:t>
            </a:r>
            <a:endParaRPr b="1" sz="1100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Automatiser l'analyse des tenues portées par les influenceurs mode afin d'identifier les tendances émergentes et d'alimenter les décisions éditoriales et commerciales de ModeTrend.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Approche technique</a:t>
            </a:r>
            <a:endParaRPr b="1" sz="1100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Utilisation du modèle </a:t>
            </a:r>
            <a:r>
              <a:rPr b="1" lang="fr" sz="1100">
                <a:latin typeface="Arial"/>
                <a:ea typeface="Arial"/>
                <a:cs typeface="Arial"/>
                <a:sym typeface="Arial"/>
              </a:rPr>
              <a:t>SegFormer B3 Clothes</a:t>
            </a:r>
            <a:r>
              <a:rPr lang="fr" sz="1100">
                <a:latin typeface="Arial"/>
                <a:ea typeface="Arial"/>
                <a:cs typeface="Arial"/>
                <a:sym typeface="Arial"/>
              </a:rPr>
              <a:t> (Hugging Face Inference API) pour segmenter chaque image en </a:t>
            </a:r>
            <a:r>
              <a:rPr b="1" lang="fr" sz="1100">
                <a:latin typeface="Arial"/>
                <a:ea typeface="Arial"/>
                <a:cs typeface="Arial"/>
                <a:sym typeface="Arial"/>
              </a:rPr>
              <a:t>18 catégories</a:t>
            </a:r>
            <a:r>
              <a:rPr lang="fr" sz="1100">
                <a:latin typeface="Arial"/>
                <a:ea typeface="Arial"/>
                <a:cs typeface="Arial"/>
                <a:sym typeface="Arial"/>
              </a:rPr>
              <a:t> : vêtements, accessoires, chaussures, etc.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Dataset : 50 images d'influenceurs 2024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Sortie : masques de segmentation par classe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Stack : Python, Pillow, NumPy, Matplotlib, Pandas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143" name="Google Shape;143;p14" title="VMqFbxIvR4xyTZl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175" y="1445425"/>
            <a:ext cx="3621801" cy="362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fr"/>
              <a:t>Fonctionnement de Segformer</a:t>
            </a:r>
            <a:endParaRPr/>
          </a:p>
        </p:txBody>
      </p:sp>
      <p:sp>
        <p:nvSpPr>
          <p:cNvPr id="149" name="Google Shape;149;p15"/>
          <p:cNvSpPr txBox="1"/>
          <p:nvPr>
            <p:ph idx="1" type="body"/>
          </p:nvPr>
        </p:nvSpPr>
        <p:spPr>
          <a:xfrm>
            <a:off x="44975" y="1307850"/>
            <a:ext cx="3713100" cy="36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b="1" lang="fr" sz="1053">
                <a:latin typeface="Arial"/>
                <a:ea typeface="Arial"/>
                <a:cs typeface="Arial"/>
                <a:sym typeface="Arial"/>
              </a:rPr>
              <a:t>Chargement des images</a:t>
            </a:r>
            <a:endParaRPr b="1" sz="1053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fr" sz="1053">
                <a:latin typeface="Arial"/>
                <a:ea typeface="Arial"/>
                <a:cs typeface="Arial"/>
                <a:sym typeface="Arial"/>
              </a:rPr>
              <a:t>Lecture des images depuis le dossier local</a:t>
            </a:r>
            <a:endParaRPr sz="1053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b="1" lang="fr" sz="1053">
                <a:latin typeface="Arial"/>
                <a:ea typeface="Arial"/>
                <a:cs typeface="Arial"/>
                <a:sym typeface="Arial"/>
              </a:rPr>
              <a:t>Appel à l’API Hugging Face</a:t>
            </a:r>
            <a:endParaRPr b="1" sz="1053">
              <a:latin typeface="Arial"/>
              <a:ea typeface="Arial"/>
              <a:cs typeface="Arial"/>
              <a:sym typeface="Arial"/>
            </a:endParaRPr>
          </a:p>
          <a:p>
            <a:pPr indent="-295434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53"/>
              <a:buFont typeface="Arial"/>
              <a:buChar char="●"/>
            </a:pPr>
            <a:r>
              <a:rPr lang="fr" sz="1053">
                <a:latin typeface="Arial"/>
                <a:ea typeface="Arial"/>
                <a:cs typeface="Arial"/>
                <a:sym typeface="Arial"/>
              </a:rPr>
              <a:t>Envoi de l’image via requête HTTP (POST)</a:t>
            </a:r>
            <a:endParaRPr sz="1053">
              <a:latin typeface="Arial"/>
              <a:ea typeface="Arial"/>
              <a:cs typeface="Arial"/>
              <a:sym typeface="Arial"/>
            </a:endParaRPr>
          </a:p>
          <a:p>
            <a:pPr indent="-295434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3"/>
              <a:buFont typeface="Arial"/>
              <a:buChar char="●"/>
            </a:pPr>
            <a:r>
              <a:rPr lang="fr" sz="1053">
                <a:latin typeface="Arial"/>
                <a:ea typeface="Arial"/>
                <a:cs typeface="Arial"/>
                <a:sym typeface="Arial"/>
              </a:rPr>
              <a:t>Authentification avec token</a:t>
            </a:r>
            <a:endParaRPr sz="1053">
              <a:latin typeface="Arial"/>
              <a:ea typeface="Arial"/>
              <a:cs typeface="Arial"/>
              <a:sym typeface="Arial"/>
            </a:endParaRPr>
          </a:p>
          <a:p>
            <a:pPr indent="-295434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3"/>
              <a:buFont typeface="Arial"/>
              <a:buChar char="●"/>
            </a:pPr>
            <a:r>
              <a:rPr lang="fr" sz="1053">
                <a:latin typeface="Arial"/>
                <a:ea typeface="Arial"/>
                <a:cs typeface="Arial"/>
                <a:sym typeface="Arial"/>
              </a:rPr>
              <a:t>Utilisation du modèle </a:t>
            </a:r>
            <a:r>
              <a:rPr i="1" lang="fr" sz="1053">
                <a:latin typeface="Arial"/>
                <a:ea typeface="Arial"/>
                <a:cs typeface="Arial"/>
                <a:sym typeface="Arial"/>
              </a:rPr>
              <a:t>segformer_b3_clothes</a:t>
            </a:r>
            <a:endParaRPr i="1" sz="1053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b="1" lang="fr" sz="1053">
                <a:latin typeface="Arial"/>
                <a:ea typeface="Arial"/>
                <a:cs typeface="Arial"/>
                <a:sym typeface="Arial"/>
              </a:rPr>
              <a:t>Décodage des masques</a:t>
            </a:r>
            <a:endParaRPr b="1" sz="1053">
              <a:latin typeface="Arial"/>
              <a:ea typeface="Arial"/>
              <a:cs typeface="Arial"/>
              <a:sym typeface="Arial"/>
            </a:endParaRPr>
          </a:p>
          <a:p>
            <a:pPr indent="-295434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53"/>
              <a:buFont typeface="Arial"/>
              <a:buChar char="●"/>
            </a:pPr>
            <a:r>
              <a:rPr lang="fr" sz="1053">
                <a:latin typeface="Arial"/>
                <a:ea typeface="Arial"/>
                <a:cs typeface="Arial"/>
                <a:sym typeface="Arial"/>
              </a:rPr>
              <a:t>Réception des masques en </a:t>
            </a:r>
            <a:r>
              <a:rPr b="1" lang="fr" sz="1053">
                <a:latin typeface="Arial"/>
                <a:ea typeface="Arial"/>
                <a:cs typeface="Arial"/>
                <a:sym typeface="Arial"/>
              </a:rPr>
              <a:t>base64</a:t>
            </a:r>
            <a:endParaRPr b="1" sz="1053">
              <a:latin typeface="Arial"/>
              <a:ea typeface="Arial"/>
              <a:cs typeface="Arial"/>
              <a:sym typeface="Arial"/>
            </a:endParaRPr>
          </a:p>
          <a:p>
            <a:pPr indent="-295434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3"/>
              <a:buFont typeface="Arial"/>
              <a:buChar char="●"/>
            </a:pPr>
            <a:r>
              <a:rPr lang="fr" sz="1053">
                <a:latin typeface="Arial"/>
                <a:ea typeface="Arial"/>
                <a:cs typeface="Arial"/>
                <a:sym typeface="Arial"/>
              </a:rPr>
              <a:t>Conversion en tableaux NumPy</a:t>
            </a:r>
            <a:endParaRPr sz="1053">
              <a:latin typeface="Arial"/>
              <a:ea typeface="Arial"/>
              <a:cs typeface="Arial"/>
              <a:sym typeface="Arial"/>
            </a:endParaRPr>
          </a:p>
          <a:p>
            <a:pPr indent="-295434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3"/>
              <a:buFont typeface="Arial"/>
              <a:buChar char="●"/>
            </a:pPr>
            <a:r>
              <a:rPr lang="fr" sz="1053">
                <a:latin typeface="Arial"/>
                <a:ea typeface="Arial"/>
                <a:cs typeface="Arial"/>
                <a:sym typeface="Arial"/>
              </a:rPr>
              <a:t>Redimensionnement à la taille originale</a:t>
            </a:r>
            <a:endParaRPr sz="1053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b="1" lang="fr" sz="1053">
                <a:latin typeface="Arial"/>
                <a:ea typeface="Arial"/>
                <a:cs typeface="Arial"/>
                <a:sym typeface="Arial"/>
              </a:rPr>
              <a:t>Fusion des masques</a:t>
            </a:r>
            <a:endParaRPr b="1" sz="1053">
              <a:latin typeface="Arial"/>
              <a:ea typeface="Arial"/>
              <a:cs typeface="Arial"/>
              <a:sym typeface="Arial"/>
            </a:endParaRPr>
          </a:p>
          <a:p>
            <a:pPr indent="-295434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53"/>
              <a:buFont typeface="Arial"/>
              <a:buChar char="●"/>
            </a:pPr>
            <a:r>
              <a:rPr lang="fr" sz="1053">
                <a:latin typeface="Arial"/>
                <a:ea typeface="Arial"/>
                <a:cs typeface="Arial"/>
                <a:sym typeface="Arial"/>
              </a:rPr>
              <a:t>Combinaison des masques par classe</a:t>
            </a:r>
            <a:endParaRPr sz="1053">
              <a:latin typeface="Arial"/>
              <a:ea typeface="Arial"/>
              <a:cs typeface="Arial"/>
              <a:sym typeface="Arial"/>
            </a:endParaRPr>
          </a:p>
          <a:p>
            <a:pPr indent="-295434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3"/>
              <a:buFont typeface="Arial"/>
              <a:buChar char="●"/>
            </a:pPr>
            <a:r>
              <a:rPr lang="fr" sz="1053">
                <a:latin typeface="Arial"/>
                <a:ea typeface="Arial"/>
                <a:cs typeface="Arial"/>
                <a:sym typeface="Arial"/>
              </a:rPr>
              <a:t>Génération d’une </a:t>
            </a:r>
            <a:r>
              <a:rPr b="1" lang="fr" sz="1053">
                <a:latin typeface="Arial"/>
                <a:ea typeface="Arial"/>
                <a:cs typeface="Arial"/>
                <a:sym typeface="Arial"/>
              </a:rPr>
              <a:t>carte de segmentation unique</a:t>
            </a:r>
            <a:endParaRPr b="1" sz="1053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b="1" lang="fr" sz="1053">
                <a:latin typeface="Arial"/>
                <a:ea typeface="Arial"/>
                <a:cs typeface="Arial"/>
                <a:sym typeface="Arial"/>
              </a:rPr>
              <a:t>Export des résultats</a:t>
            </a:r>
            <a:endParaRPr b="1" sz="1053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fr" sz="1053">
                <a:latin typeface="Arial"/>
                <a:ea typeface="Arial"/>
                <a:cs typeface="Arial"/>
                <a:sym typeface="Arial"/>
              </a:rPr>
              <a:t>image originale | masque segmenté | vrai masque</a:t>
            </a:r>
            <a:endParaRPr sz="1053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08"/>
              <a:buNone/>
            </a:pPr>
            <a:r>
              <a:t/>
            </a:r>
            <a:endParaRPr sz="853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900" y="1257725"/>
            <a:ext cx="4707800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fr"/>
              <a:t>Performances du modèle sur les 50 images </a:t>
            </a:r>
            <a:endParaRPr/>
          </a:p>
        </p:txBody>
      </p:sp>
      <p:sp>
        <p:nvSpPr>
          <p:cNvPr id="156" name="Google Shape;156;p16"/>
          <p:cNvSpPr txBox="1"/>
          <p:nvPr>
            <p:ph idx="1" type="body"/>
          </p:nvPr>
        </p:nvSpPr>
        <p:spPr>
          <a:xfrm>
            <a:off x="6640475" y="1445425"/>
            <a:ext cx="2503500" cy="3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1/ Le </a:t>
            </a:r>
            <a:r>
              <a:rPr b="1" lang="fr" sz="1100">
                <a:latin typeface="Arial"/>
                <a:ea typeface="Arial"/>
                <a:cs typeface="Arial"/>
                <a:sym typeface="Arial"/>
              </a:rPr>
              <a:t>IoU (Intersection over Union)</a:t>
            </a:r>
            <a:r>
              <a:rPr lang="fr" sz="1100">
                <a:latin typeface="Arial"/>
                <a:ea typeface="Arial"/>
                <a:cs typeface="Arial"/>
                <a:sym typeface="Arial"/>
              </a:rPr>
              <a:t> mesure la qualité de la segmentation en comparant 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la zone prédite par le modèle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la zone réelle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2/ Le score affiché pour chaque image correspond à une </a:t>
            </a:r>
            <a:r>
              <a:rPr b="1" lang="fr" sz="1100">
                <a:latin typeface="Arial"/>
                <a:ea typeface="Arial"/>
                <a:cs typeface="Arial"/>
                <a:sym typeface="Arial"/>
              </a:rPr>
              <a:t>moyenne des IoU par classe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latin typeface="Arial"/>
                <a:ea typeface="Arial"/>
                <a:cs typeface="Arial"/>
                <a:sym typeface="Arial"/>
              </a:rPr>
              <a:t>3/ </a:t>
            </a:r>
            <a:r>
              <a:rPr lang="fr" sz="1100">
                <a:latin typeface="Arial"/>
                <a:ea typeface="Arial"/>
                <a:cs typeface="Arial"/>
                <a:sym typeface="Arial"/>
              </a:rPr>
              <a:t>le score IoU moyen par image oscille généralement entre </a:t>
            </a:r>
            <a:r>
              <a:rPr b="1" lang="fr" sz="1100">
                <a:latin typeface="Arial"/>
                <a:ea typeface="Arial"/>
                <a:cs typeface="Arial"/>
                <a:sym typeface="Arial"/>
              </a:rPr>
              <a:t>0,6 et 0,85 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" sz="1100">
                <a:latin typeface="Arial"/>
                <a:ea typeface="Arial"/>
                <a:cs typeface="Arial"/>
                <a:sym typeface="Arial"/>
              </a:rPr>
              <a:t>=&gt; </a:t>
            </a:r>
            <a:r>
              <a:rPr lang="fr" sz="1100">
                <a:latin typeface="Arial"/>
                <a:ea typeface="Arial"/>
                <a:cs typeface="Arial"/>
                <a:sym typeface="Arial"/>
              </a:rPr>
              <a:t>le modèle est </a:t>
            </a:r>
            <a:r>
              <a:rPr b="1" lang="fr" sz="1100">
                <a:latin typeface="Arial"/>
                <a:ea typeface="Arial"/>
                <a:cs typeface="Arial"/>
                <a:sym typeface="Arial"/>
              </a:rPr>
              <a:t>fiable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50" y="1492250"/>
            <a:ext cx="6585924" cy="359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/>
              <a:t>Proposition d’une méthode de validation du modèle</a:t>
            </a:r>
            <a:endParaRPr/>
          </a:p>
        </p:txBody>
      </p:sp>
      <p:sp>
        <p:nvSpPr>
          <p:cNvPr id="163" name="Google Shape;163;p17"/>
          <p:cNvSpPr txBox="1"/>
          <p:nvPr>
            <p:ph idx="1" type="body"/>
          </p:nvPr>
        </p:nvSpPr>
        <p:spPr>
          <a:xfrm>
            <a:off x="5899350" y="1157100"/>
            <a:ext cx="3244800" cy="3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latin typeface="Arial"/>
                <a:ea typeface="Arial"/>
                <a:cs typeface="Arial"/>
                <a:sym typeface="Arial"/>
              </a:rPr>
              <a:t>1/ Fiabilité Globale :</a:t>
            </a:r>
            <a:r>
              <a:rPr lang="fr"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latin typeface="Arial"/>
                <a:ea typeface="Arial"/>
                <a:cs typeface="Arial"/>
                <a:sym typeface="Arial"/>
              </a:rPr>
              <a:t>Performance stable avec un score IoU moyen compris entre </a:t>
            </a:r>
            <a:r>
              <a:rPr b="1" lang="fr">
                <a:latin typeface="Arial"/>
                <a:ea typeface="Arial"/>
                <a:cs typeface="Arial"/>
                <a:sym typeface="Arial"/>
              </a:rPr>
              <a:t>0,6 et 0,85</a:t>
            </a:r>
            <a:r>
              <a:rPr lang="fr">
                <a:latin typeface="Arial"/>
                <a:ea typeface="Arial"/>
                <a:cs typeface="Arial"/>
                <a:sym typeface="Arial"/>
              </a:rPr>
              <a:t> sur l'ensemble du dataset.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latin typeface="Arial"/>
                <a:ea typeface="Arial"/>
                <a:cs typeface="Arial"/>
                <a:sym typeface="Arial"/>
              </a:rPr>
              <a:t>2/ Précision sur les Pièces Clés :</a:t>
            </a:r>
            <a:r>
              <a:rPr lang="fr"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latin typeface="Arial"/>
                <a:ea typeface="Arial"/>
                <a:cs typeface="Arial"/>
                <a:sym typeface="Arial"/>
              </a:rPr>
              <a:t>Résultats optimaux (proches de </a:t>
            </a:r>
            <a:r>
              <a:rPr b="1" lang="fr">
                <a:latin typeface="Arial"/>
                <a:ea typeface="Arial"/>
                <a:cs typeface="Arial"/>
                <a:sym typeface="Arial"/>
              </a:rPr>
              <a:t>1,0</a:t>
            </a:r>
            <a:r>
              <a:rPr lang="fr">
                <a:latin typeface="Arial"/>
                <a:ea typeface="Arial"/>
                <a:cs typeface="Arial"/>
                <a:sym typeface="Arial"/>
              </a:rPr>
              <a:t>) pour les catégories majeures comme </a:t>
            </a:r>
            <a:r>
              <a:rPr b="1" lang="fr">
                <a:latin typeface="Arial"/>
                <a:ea typeface="Arial"/>
                <a:cs typeface="Arial"/>
                <a:sym typeface="Arial"/>
              </a:rPr>
              <a:t>"Skirt"</a:t>
            </a:r>
            <a:r>
              <a:rPr lang="fr">
                <a:latin typeface="Arial"/>
                <a:ea typeface="Arial"/>
                <a:cs typeface="Arial"/>
                <a:sym typeface="Arial"/>
              </a:rPr>
              <a:t>, “Scarf” ou </a:t>
            </a:r>
            <a:r>
              <a:rPr b="1" lang="fr">
                <a:latin typeface="Arial"/>
                <a:ea typeface="Arial"/>
                <a:cs typeface="Arial"/>
                <a:sym typeface="Arial"/>
              </a:rPr>
              <a:t>"Hat", “Dress”</a:t>
            </a:r>
            <a:r>
              <a:rPr lang="fr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latin typeface="Arial"/>
                <a:ea typeface="Arial"/>
                <a:cs typeface="Arial"/>
                <a:sym typeface="Arial"/>
              </a:rPr>
              <a:t>3/ Sensibilité Géométrique :</a:t>
            </a:r>
            <a:r>
              <a:rPr lang="fr"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latin typeface="Arial"/>
                <a:ea typeface="Arial"/>
                <a:cs typeface="Arial"/>
                <a:sym typeface="Arial"/>
              </a:rPr>
              <a:t>Scores plus bas (</a:t>
            </a:r>
            <a:r>
              <a:rPr b="1" lang="fr">
                <a:latin typeface="Arial"/>
                <a:ea typeface="Arial"/>
                <a:cs typeface="Arial"/>
                <a:sym typeface="Arial"/>
              </a:rPr>
              <a:t>&lt;0,4</a:t>
            </a:r>
            <a:r>
              <a:rPr lang="fr">
                <a:latin typeface="Arial"/>
                <a:ea typeface="Arial"/>
                <a:cs typeface="Arial"/>
                <a:sym typeface="Arial"/>
              </a:rPr>
              <a:t>) sur les petits objets (ex: </a:t>
            </a:r>
            <a:r>
              <a:rPr b="1" lang="fr">
                <a:latin typeface="Arial"/>
                <a:ea typeface="Arial"/>
                <a:cs typeface="Arial"/>
                <a:sym typeface="Arial"/>
              </a:rPr>
              <a:t>"Right-shoe", “Left-shoe”, “Right-arm”, “Left-arm”</a:t>
            </a:r>
            <a:r>
              <a:rPr lang="fr">
                <a:latin typeface="Arial"/>
                <a:ea typeface="Arial"/>
                <a:cs typeface="Arial"/>
                <a:sym typeface="Arial"/>
              </a:rPr>
              <a:t>)</a:t>
            </a:r>
            <a:endParaRPr sz="1500"/>
          </a:p>
        </p:txBody>
      </p:sp>
      <p:pic>
        <p:nvPicPr>
          <p:cNvPr id="164" name="Google Shape;16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25" y="1363225"/>
            <a:ext cx="5817537" cy="355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fr"/>
              <a:t>Passage à l’échelle et coût d’utilisation</a:t>
            </a:r>
            <a:endParaRPr/>
          </a:p>
        </p:txBody>
      </p:sp>
      <p:sp>
        <p:nvSpPr>
          <p:cNvPr id="170" name="Google Shape;170;p18"/>
          <p:cNvSpPr txBox="1"/>
          <p:nvPr>
            <p:ph idx="1" type="body"/>
          </p:nvPr>
        </p:nvSpPr>
        <p:spPr>
          <a:xfrm>
            <a:off x="1297500" y="1567550"/>
            <a:ext cx="7038900" cy="3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latin typeface="Arial"/>
                <a:ea typeface="Arial"/>
                <a:cs typeface="Arial"/>
                <a:sym typeface="Arial"/>
              </a:rPr>
              <a:t>Solution :</a:t>
            </a:r>
            <a:r>
              <a:rPr lang="fr" sz="1600">
                <a:latin typeface="Arial"/>
                <a:ea typeface="Arial"/>
                <a:cs typeface="Arial"/>
                <a:sym typeface="Arial"/>
              </a:rPr>
              <a:t> Passage sur un </a:t>
            </a:r>
            <a:r>
              <a:rPr b="1" lang="fr" sz="1600">
                <a:latin typeface="Arial"/>
                <a:ea typeface="Arial"/>
                <a:cs typeface="Arial"/>
                <a:sym typeface="Arial"/>
              </a:rPr>
              <a:t>Hugging Face Inference Endpoint</a:t>
            </a:r>
            <a:r>
              <a:rPr lang="fr" sz="1600">
                <a:latin typeface="Arial"/>
                <a:ea typeface="Arial"/>
                <a:cs typeface="Arial"/>
                <a:sym typeface="Arial"/>
              </a:rPr>
              <a:t> dédié (GPU T4).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600">
                <a:latin typeface="Arial"/>
                <a:ea typeface="Arial"/>
                <a:cs typeface="Arial"/>
                <a:sym typeface="Arial"/>
              </a:rPr>
              <a:t>Calcul de coût :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b="1" lang="fr" sz="1600">
                <a:latin typeface="Arial"/>
                <a:ea typeface="Arial"/>
                <a:cs typeface="Arial"/>
                <a:sym typeface="Arial"/>
              </a:rPr>
              <a:t>Temps par image :</a:t>
            </a:r>
            <a:r>
              <a:rPr lang="fr" sz="1600">
                <a:latin typeface="Arial"/>
                <a:ea typeface="Arial"/>
                <a:cs typeface="Arial"/>
                <a:sym typeface="Arial"/>
              </a:rPr>
              <a:t> ~0.5s  (incluant le transfert réseau).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b="1" lang="fr" sz="1600">
                <a:latin typeface="Arial"/>
                <a:ea typeface="Arial"/>
                <a:cs typeface="Arial"/>
                <a:sym typeface="Arial"/>
              </a:rPr>
              <a:t>Volume :</a:t>
            </a:r>
            <a:r>
              <a:rPr lang="fr" sz="1600">
                <a:latin typeface="Arial"/>
                <a:ea typeface="Arial"/>
                <a:cs typeface="Arial"/>
                <a:sym typeface="Arial"/>
              </a:rPr>
              <a:t> 500 000 images / mois.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b="1" lang="fr" sz="1600">
                <a:latin typeface="Arial"/>
                <a:ea typeface="Arial"/>
                <a:cs typeface="Arial"/>
                <a:sym typeface="Arial"/>
              </a:rPr>
              <a:t>Infrastructure :</a:t>
            </a:r>
            <a:r>
              <a:rPr lang="fr" sz="1600">
                <a:latin typeface="Arial"/>
                <a:ea typeface="Arial"/>
                <a:cs typeface="Arial"/>
                <a:sym typeface="Arial"/>
              </a:rPr>
              <a:t> 1 instance GPU T4 active 24/7.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600">
                <a:latin typeface="Arial"/>
                <a:ea typeface="Arial"/>
                <a:cs typeface="Arial"/>
                <a:sym typeface="Arial"/>
              </a:rPr>
              <a:t>Budget estimé :</a:t>
            </a:r>
            <a:r>
              <a:rPr lang="fr" sz="1600">
                <a:latin typeface="Arial"/>
                <a:ea typeface="Arial"/>
                <a:cs typeface="Arial"/>
                <a:sym typeface="Arial"/>
              </a:rPr>
              <a:t>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latin typeface="Arial"/>
                <a:ea typeface="Arial"/>
                <a:cs typeface="Arial"/>
                <a:sym typeface="Arial"/>
              </a:rPr>
              <a:t>0.5 € * 720h </a:t>
            </a:r>
            <a:r>
              <a:rPr b="1" lang="fr" sz="1600">
                <a:latin typeface="Arial"/>
                <a:ea typeface="Arial"/>
                <a:cs typeface="Arial"/>
                <a:sym typeface="Arial"/>
              </a:rPr>
              <a:t>= 360 €/ mois</a:t>
            </a:r>
            <a:r>
              <a:rPr lang="fr" sz="1600">
                <a:latin typeface="Arial"/>
                <a:ea typeface="Arial"/>
                <a:cs typeface="Arial"/>
                <a:sym typeface="Arial"/>
              </a:rPr>
              <a:t>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latin typeface="Arial"/>
                <a:ea typeface="Arial"/>
                <a:cs typeface="Arial"/>
                <a:sym typeface="Arial"/>
              </a:rPr>
              <a:t>(soit environ 0,0007€ par image)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fr"/>
              <a:t>Bilan du projet réalisé</a:t>
            </a:r>
            <a:endParaRPr/>
          </a:p>
        </p:txBody>
      </p:sp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fr" sz="1305">
                <a:latin typeface="Arial"/>
                <a:ea typeface="Arial"/>
                <a:cs typeface="Arial"/>
                <a:sym typeface="Arial"/>
              </a:rPr>
              <a:t>Difficultés</a:t>
            </a:r>
            <a:endParaRPr b="1" sz="1305">
              <a:latin typeface="Arial"/>
              <a:ea typeface="Arial"/>
              <a:cs typeface="Arial"/>
              <a:sym typeface="Arial"/>
            </a:endParaRPr>
          </a:p>
          <a:p>
            <a:pPr indent="-311468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5"/>
              <a:buFont typeface="Arial"/>
              <a:buChar char="●"/>
            </a:pPr>
            <a:r>
              <a:rPr lang="fr" sz="1305">
                <a:latin typeface="Arial"/>
                <a:ea typeface="Arial"/>
                <a:cs typeface="Arial"/>
                <a:sym typeface="Arial"/>
              </a:rPr>
              <a:t>Trop d’informations nouvelles à traiter en peu de temps (40h insuffisant)</a:t>
            </a:r>
            <a:endParaRPr sz="1305">
              <a:latin typeface="Arial"/>
              <a:ea typeface="Arial"/>
              <a:cs typeface="Arial"/>
              <a:sym typeface="Arial"/>
            </a:endParaRPr>
          </a:p>
          <a:p>
            <a:pPr indent="-31146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5"/>
              <a:buFont typeface="Arial"/>
              <a:buChar char="●"/>
            </a:pPr>
            <a:r>
              <a:rPr lang="fr" sz="1305">
                <a:latin typeface="Arial"/>
                <a:ea typeface="Arial"/>
                <a:cs typeface="Arial"/>
                <a:sym typeface="Arial"/>
              </a:rPr>
              <a:t>Besoins parfois mal définis, rendant l’implémentation difficile</a:t>
            </a:r>
            <a:endParaRPr sz="1305">
              <a:latin typeface="Arial"/>
              <a:ea typeface="Arial"/>
              <a:cs typeface="Arial"/>
              <a:sym typeface="Arial"/>
            </a:endParaRPr>
          </a:p>
          <a:p>
            <a:pPr indent="-31146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5"/>
              <a:buFont typeface="Arial"/>
              <a:buChar char="●"/>
            </a:pPr>
            <a:r>
              <a:rPr lang="fr" sz="1305">
                <a:latin typeface="Arial"/>
                <a:ea typeface="Arial"/>
                <a:cs typeface="Arial"/>
                <a:sym typeface="Arial"/>
              </a:rPr>
              <a:t>Certaines erreurs de détection sur les petits détails</a:t>
            </a:r>
            <a:endParaRPr sz="130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fr" sz="1305">
                <a:latin typeface="Arial"/>
                <a:ea typeface="Arial"/>
                <a:cs typeface="Arial"/>
                <a:sym typeface="Arial"/>
              </a:rPr>
              <a:t>Améliorations</a:t>
            </a:r>
            <a:endParaRPr b="1" sz="1305">
              <a:latin typeface="Arial"/>
              <a:ea typeface="Arial"/>
              <a:cs typeface="Arial"/>
              <a:sym typeface="Arial"/>
            </a:endParaRPr>
          </a:p>
          <a:p>
            <a:pPr indent="-311468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5"/>
              <a:buFont typeface="Arial"/>
              <a:buChar char="●"/>
            </a:pPr>
            <a:r>
              <a:rPr lang="fr" sz="1305">
                <a:latin typeface="Arial"/>
                <a:ea typeface="Arial"/>
                <a:cs typeface="Arial"/>
                <a:sym typeface="Arial"/>
              </a:rPr>
              <a:t>Améliorer la précision sur les éléments fins</a:t>
            </a:r>
            <a:endParaRPr sz="1305">
              <a:latin typeface="Arial"/>
              <a:ea typeface="Arial"/>
              <a:cs typeface="Arial"/>
              <a:sym typeface="Arial"/>
            </a:endParaRPr>
          </a:p>
          <a:p>
            <a:pPr indent="-31146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5"/>
              <a:buFont typeface="Arial"/>
              <a:buChar char="●"/>
            </a:pPr>
            <a:r>
              <a:rPr lang="fr" sz="1305">
                <a:latin typeface="Arial"/>
                <a:ea typeface="Arial"/>
                <a:cs typeface="Arial"/>
                <a:sym typeface="Arial"/>
              </a:rPr>
              <a:t>Mieux cadrer les besoins en amont du projet</a:t>
            </a:r>
            <a:endParaRPr sz="130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fr" sz="1305">
                <a:latin typeface="Arial"/>
                <a:ea typeface="Arial"/>
                <a:cs typeface="Arial"/>
                <a:sym typeface="Arial"/>
              </a:rPr>
              <a:t>Pistes pour les clients</a:t>
            </a:r>
            <a:endParaRPr b="1" sz="1305">
              <a:latin typeface="Arial"/>
              <a:ea typeface="Arial"/>
              <a:cs typeface="Arial"/>
              <a:sym typeface="Arial"/>
            </a:endParaRPr>
          </a:p>
          <a:p>
            <a:pPr indent="-311468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5"/>
              <a:buFont typeface="Arial"/>
              <a:buChar char="●"/>
            </a:pPr>
            <a:r>
              <a:rPr lang="fr" sz="1305">
                <a:latin typeface="Arial"/>
                <a:ea typeface="Arial"/>
                <a:cs typeface="Arial"/>
                <a:sym typeface="Arial"/>
              </a:rPr>
              <a:t>Suggestions de tendances mode via un questionnaire personnalisé</a:t>
            </a:r>
            <a:endParaRPr sz="130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15"/>
              <a:buNone/>
            </a:pPr>
            <a:r>
              <a:t/>
            </a:r>
            <a:endParaRPr sz="141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15"/>
              <a:buNone/>
            </a:pPr>
            <a:r>
              <a:t/>
            </a:r>
            <a:endParaRPr sz="141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715"/>
              <a:buNone/>
            </a:pPr>
            <a:r>
              <a:t/>
            </a:r>
            <a:endParaRPr sz="1415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